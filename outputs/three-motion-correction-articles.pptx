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446d0efe2e44bd" /><Relationship Type="http://schemas.openxmlformats.org/officeDocument/2006/relationships/extended-properties" Target="/docProps/app.xml" Id="R9f17ecc9621a4677" /><Relationship Type="http://schemas.openxmlformats.org/officeDocument/2006/relationships/officeDocument" Target="/ppt/presentation.xml" Id="R787c001b57f44e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20d39f8ac34b61"/>
  </p:sldMasterIdLst>
  <p:notesMasterIdLst>
    <p:notesMasterId xmlns:r="http://schemas.openxmlformats.org/officeDocument/2006/relationships" r:id="R0481a229c91f47a9"/>
  </p:notesMasterIdLst>
  <p:sldIdLst>
    <p:sldId xmlns:r="http://schemas.openxmlformats.org/officeDocument/2006/relationships" id="256" r:id="R523196b678d84a7e"/>
    <p:sldId xmlns:r="http://schemas.openxmlformats.org/officeDocument/2006/relationships" id="257" r:id="Ra182ac13f3254536"/>
    <p:sldId xmlns:r="http://schemas.openxmlformats.org/officeDocument/2006/relationships" id="258" r:id="Rdbbf9be43d7e4720"/>
    <p:sldId xmlns:r="http://schemas.openxmlformats.org/officeDocument/2006/relationships" id="259" r:id="Rdd576272cfa24897"/>
    <p:sldId xmlns:r="http://schemas.openxmlformats.org/officeDocument/2006/relationships" id="260" r:id="R3f9ce9e376124fa8"/>
    <p:sldId xmlns:r="http://schemas.openxmlformats.org/officeDocument/2006/relationships" id="261" r:id="R8ffe2bd568424664"/>
    <p:sldId xmlns:r="http://schemas.openxmlformats.org/officeDocument/2006/relationships" id="262" r:id="R2e570ccc11604e61"/>
    <p:sldId xmlns:r="http://schemas.openxmlformats.org/officeDocument/2006/relationships" id="263" r:id="Rf0e854570aa74cdb"/>
    <p:sldId xmlns:r="http://schemas.openxmlformats.org/officeDocument/2006/relationships" id="264" r:id="R07d342561ede4f63"/>
    <p:sldId xmlns:r="http://schemas.openxmlformats.org/officeDocument/2006/relationships" id="265" r:id="Ra41c86353a354585"/>
    <p:sldId xmlns:r="http://schemas.openxmlformats.org/officeDocument/2006/relationships" id="266" r:id="R63c7ec31ebe14d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ebc4df8a8a4a2c" /><Relationship Type="http://schemas.openxmlformats.org/officeDocument/2006/relationships/slideMaster" Target="/ppt/slideMasters/slideMaster1.xml" Id="R1f20d39f8ac34b61" /><Relationship Type="http://schemas.openxmlformats.org/officeDocument/2006/relationships/notesMaster" Target="/ppt/notesMasters/notesMaster1.xml" Id="R0481a229c91f47a9" /><Relationship Type="http://schemas.openxmlformats.org/officeDocument/2006/relationships/presProps" Target="/ppt/presProps.xml" Id="R7218246e4bd64d70" /><Relationship Type="http://schemas.openxmlformats.org/officeDocument/2006/relationships/tableStyles" Target="/ppt/tableStyles.xml" Id="Re2b7ceb336924a30" /><Relationship Type="http://schemas.openxmlformats.org/officeDocument/2006/relationships/slide" Target="/ppt/slides/slide1.xml" Id="R523196b678d84a7e" /><Relationship Type="http://schemas.openxmlformats.org/officeDocument/2006/relationships/slide" Target="/ppt/slides/slide2.xml" Id="Ra182ac13f3254536" /><Relationship Type="http://schemas.openxmlformats.org/officeDocument/2006/relationships/slide" Target="/ppt/slides/slide3.xml" Id="Rdbbf9be43d7e4720" /><Relationship Type="http://schemas.openxmlformats.org/officeDocument/2006/relationships/slide" Target="/ppt/slides/slide4.xml" Id="Rdd576272cfa24897" /><Relationship Type="http://schemas.openxmlformats.org/officeDocument/2006/relationships/slide" Target="/ppt/slides/slide5.xml" Id="R3f9ce9e376124fa8" /><Relationship Type="http://schemas.openxmlformats.org/officeDocument/2006/relationships/slide" Target="/ppt/slides/slide6.xml" Id="R8ffe2bd568424664" /><Relationship Type="http://schemas.openxmlformats.org/officeDocument/2006/relationships/slide" Target="/ppt/slides/slide7.xml" Id="R2e570ccc11604e61" /><Relationship Type="http://schemas.openxmlformats.org/officeDocument/2006/relationships/slide" Target="/ppt/slides/slide8.xml" Id="Rf0e854570aa74cdb" /><Relationship Type="http://schemas.openxmlformats.org/officeDocument/2006/relationships/slide" Target="/ppt/slides/slide9.xml" Id="R07d342561ede4f63" /><Relationship Type="http://schemas.openxmlformats.org/officeDocument/2006/relationships/slide" Target="/ppt/slides/slide10.xml" Id="Ra41c86353a354585" /><Relationship Type="http://schemas.openxmlformats.org/officeDocument/2006/relationships/slide" Target="/ppt/slides/slide11.xml" Id="R63c7ec31ebe14d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5404517b1549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1c9eb392642bb" /><Relationship Type="http://schemas.openxmlformats.org/officeDocument/2006/relationships/notesMaster" Target="/ppt/notesMasters/notesMaster1.xml" Id="R48a855761d624e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4f165aa2e6465c" /><Relationship Type="http://schemas.openxmlformats.org/officeDocument/2006/relationships/notesMaster" Target="/ppt/notesMasters/notesMaster1.xml" Id="Rf26f978f917d4b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cb8be35a5f47a6" /><Relationship Type="http://schemas.openxmlformats.org/officeDocument/2006/relationships/notesMaster" Target="/ppt/notesMasters/notesMaster1.xml" Id="R2edcb6142e424c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a0228a5c8744e3" /><Relationship Type="http://schemas.openxmlformats.org/officeDocument/2006/relationships/notesMaster" Target="/ppt/notesMasters/notesMaster1.xml" Id="R5fea0917a89240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3d3af4e6ea431c" /><Relationship Type="http://schemas.openxmlformats.org/officeDocument/2006/relationships/notesMaster" Target="/ppt/notesMasters/notesMaster1.xml" Id="R6ee3713e6eee4c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cdf15077d94bea" /><Relationship Type="http://schemas.openxmlformats.org/officeDocument/2006/relationships/notesMaster" Target="/ppt/notesMasters/notesMaster1.xml" Id="R9e941067b95d4c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8aec1f36784669" /><Relationship Type="http://schemas.openxmlformats.org/officeDocument/2006/relationships/notesMaster" Target="/ppt/notesMasters/notesMaster1.xml" Id="Raed671a31d8a41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9dcf3e69e14aa4" /><Relationship Type="http://schemas.openxmlformats.org/officeDocument/2006/relationships/notesMaster" Target="/ppt/notesMasters/notesMaster1.xml" Id="R7fd9efaa8c1948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ffeea06b6e4855" /><Relationship Type="http://schemas.openxmlformats.org/officeDocument/2006/relationships/notesMaster" Target="/ppt/notesMasters/notesMaster1.xml" Id="R2ab74168b87f43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d9e564a49b4d37" /><Relationship Type="http://schemas.openxmlformats.org/officeDocument/2006/relationships/notesMaster" Target="/ppt/notesMasters/notesMaster1.xml" Id="Rbccb08880e1e4e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b092650ffe4fa5" /><Relationship Type="http://schemas.openxmlformats.org/officeDocument/2006/relationships/notesMaster" Target="/ppt/notesMasters/notesMaster1.xml" Id="R50ef609cad66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723c070394b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9b2a5934eb495d" /><Relationship Type="http://schemas.openxmlformats.org/officeDocument/2006/relationships/slideLayout" Target="/ppt/slideLayouts/slideLayout1.xml" Id="Rb5ee98bf37e8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ee98bf37e8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12a40bcdc4b03" /><Relationship Type="http://schemas.openxmlformats.org/officeDocument/2006/relationships/notesSlide" Target="/ppt/notesSlides/notesSlide1.xml" Id="Rff5bc39486c54a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bb6410e2848b6" /><Relationship Type="http://schemas.openxmlformats.org/officeDocument/2006/relationships/notesSlide" Target="/ppt/notesSlides/notesSlide2.xml" Id="R28ac056881364a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7bdbe58044dd0" /><Relationship Type="http://schemas.openxmlformats.org/officeDocument/2006/relationships/notesSlide" Target="/ppt/notesSlides/notesSlide3.xml" Id="R542b2ab29c8c40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e8fe3ad65447b" /><Relationship Type="http://schemas.openxmlformats.org/officeDocument/2006/relationships/notesSlide" Target="/ppt/notesSlides/notesSlide4.xml" Id="R12d763415282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8bbcad90e42f8" /><Relationship Type="http://schemas.openxmlformats.org/officeDocument/2006/relationships/notesSlide" Target="/ppt/notesSlides/notesSlide5.xml" Id="R7d3bd18d7f314c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1a5a6d6f34e7a" /><Relationship Type="http://schemas.openxmlformats.org/officeDocument/2006/relationships/notesSlide" Target="/ppt/notesSlides/notesSlide6.xml" Id="Rbdb52d9a984c4c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f055b489d4da5" /><Relationship Type="http://schemas.openxmlformats.org/officeDocument/2006/relationships/notesSlide" Target="/ppt/notesSlides/notesSlide7.xml" Id="Rb5cc1af6f4754f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f9e63f4ff49ea" /><Relationship Type="http://schemas.openxmlformats.org/officeDocument/2006/relationships/notesSlide" Target="/ppt/notesSlides/notesSlide8.xml" Id="Rc8dbc63d0fbe4c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7e1507109445e" /><Relationship Type="http://schemas.openxmlformats.org/officeDocument/2006/relationships/notesSlide" Target="/ppt/notesSlides/notesSlide9.xml" Id="R9b11aa1ac1f344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8f4d519d84d76" /><Relationship Type="http://schemas.openxmlformats.org/officeDocument/2006/relationships/notesSlide" Target="/ppt/notesSlides/notesSlide10.xml" Id="Rb4479766b63c43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8c73747664826" /><Relationship Type="http://schemas.openxmlformats.org/officeDocument/2006/relationships/notesSlide" Target="/ppt/notesSlides/notesSlide11.xml" Id="Red49591475f84b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7272D0-0304-444A-A227-DA255C7F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C5"/>
                </a:solidFill>
              </a:defRPr>
            </a:pPr>
            <a:r>
              <a:rPr sz="1125" b="1">
                <a:solidFill>
                  <a:srgbClr val="2457C5"/>
                </a:solidFill>
              </a:rPr>
              <a:t>CORRECTION RÉTROSPECTIVE DU MOUVEMENT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EC426-51E7-4414-899A-834744BD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810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02A"/>
                </a:solidFill>
              </a:defRPr>
            </a:pPr>
            <a:r>
              <a:rPr sz="3750" b="1">
                <a:solidFill>
                  <a:srgbClr val="17202A"/>
                </a:solidFill>
              </a:rPr>
              <a:t>Trois articles, trois façons de protéger l’anatomie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BE886-1277-47AD-B5AC-CF68F980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</a:defRPr>
            </a:pPr>
            <a:r>
              <a:rPr sz="1875" b="0">
                <a:solidFill>
                  <a:srgbClr val="52606D"/>
                </a:solidFill>
              </a:rPr>
              <a:t>MC-Net · BME-X · 3D-WMoCo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086-99DA-4308-9DA9-E31D5B23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095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2F112-3752-4C8E-BA36-04D8A97C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90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E7E1"/>
                </a:solidFill>
              </a:defRPr>
            </a:pPr>
            <a:r>
              <a:rPr sz="1500" b="1">
                <a:solidFill>
                  <a:srgbClr val="9FE7E1"/>
                </a:solidFill>
              </a:rPr>
              <a:t>La bonne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33F0F-7487-4C6D-AA23-B7D9F790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219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Une image plus nette est-elle aussi plus fidèle pour FreeSurfer et les mesures corticales 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FC790-725A-4822-A943-6C01840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38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7E8"/>
                </a:solidFill>
              </a:defRPr>
            </a:pPr>
            <a:r>
              <a:rPr sz="1275" b="0">
                <a:solidFill>
                  <a:srgbClr val="C8D7E8"/>
                </a:solidFill>
              </a:rPr>
              <a:t>Synthèse technique et implications pour JDAC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0C53C-73DE-490C-97AB-71DFD5D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Articles et dépôts officiels, consultés le 17 juillet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1FB41-76DF-437D-A329-D84025BB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17334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D3A11-70AE-44C0-82AA-E4D3BC7D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CADRE DE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FE069-D367-4A67-8088-F63758C5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Comparer les méthodes sur la même chaîne de preuve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29204-5F1F-44AC-B0FA-CE4372B3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solidFill>
              <a:srgbClr val="2457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6DD6B-DAB6-4597-BC7C-CDC428AF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14650"/>
            <a:ext cx="419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2764A-4B14-4439-94EF-E89FABF1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06724-A1F4-4F5B-BA49-CA42F420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Entrée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60953-7749-4557-9158-A744A266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Que reçoit le réseau 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E0DDA-377F-471D-B99A-59FD207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14650"/>
            <a:ext cx="419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F1CA5-5D60-4960-B291-89822947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43150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A6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4BD34-FDBF-4A83-A78D-D47331C7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A6A0"/>
                </a:solidFill>
              </a:defRPr>
            </a:pPr>
            <a:r>
              <a:rPr sz="1575" b="1">
                <a:solidFill>
                  <a:srgbClr val="31A6A0"/>
                </a:solidFill>
              </a:rPr>
              <a:t>Apprentissage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F63E6-D6E8-4F7F-A427-B8A582FA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Quelles paires et quelles pertes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01A46-3E81-4C73-81C4-CE2D680E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419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F16E7-0834-48E5-9D66-886C1492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7B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04068-E31F-4649-B9AA-0ED2266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574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17B1F"/>
                </a:solidFill>
              </a:defRPr>
            </a:pPr>
            <a:r>
              <a:rPr sz="1575" b="1">
                <a:solidFill>
                  <a:srgbClr val="D17B1F"/>
                </a:solidFill>
              </a:rPr>
              <a:t>Correction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E9B5E-73D0-4222-8461-3B2CEF20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384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2D, 3D, U-Net ou diffusion 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0E49D-979A-4E6A-B319-4E3A6271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419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D2F94-8DEC-4F9B-8A24-1E1941B1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3150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47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F48D1-EE35-4940-95C3-D9567AC4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574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473E"/>
                </a:solidFill>
              </a:defRPr>
            </a:pPr>
            <a:r>
              <a:rPr sz="1575" b="1">
                <a:solidFill>
                  <a:srgbClr val="B9473E"/>
                </a:solidFill>
              </a:rPr>
              <a:t>Évaluation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55938-0AC1-4003-A547-887BB878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Apparence ou anatomie 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D72F32-1508-49AD-A8B4-F5DA4FF9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43150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596FF-A256-45E0-BDC0-D95842CE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574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Disponibilité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2101A-6C54-4CCE-B549-9F765FA9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384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Code, poids et exécution 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B15C7-8D6C-4514-873E-4CA6D6C7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2A"/>
                </a:solidFill>
              </a:defRPr>
            </a:pPr>
            <a:r>
              <a:rPr sz="1950" b="1">
                <a:solidFill>
                  <a:srgbClr val="17202A"/>
                </a:solidFill>
              </a:rPr>
              <a:t>Cette grille évite de confondre une architecture séduisante avec une méthode réellement applicable à ds004332.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9E372-687E-4006-A3A7-D9A0E368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Cadre de synthèse appliqué uniformément aux trois articles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F5BBAF-63CA-4F29-908C-A015100D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02209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16966A-E70F-4DEB-BA05-CAF0D8A1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MC-NET — ZHANG ET AL.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5FD67-1D5B-4841-8F96-DF608F60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MC-Net apprend une correction 2D à partir de mouvement simulé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D034A-8BB2-4B07-A904-7B111257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solidFill>
              <a:srgbClr val="2457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94BEA-B85A-4249-8BE0-61605970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190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A6A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E4603-032F-4BD3-B959-55264D27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A6A0"/>
                </a:solidFill>
              </a:defRPr>
            </a:pPr>
            <a:r>
              <a:rPr sz="1575" b="1">
                <a:solidFill>
                  <a:srgbClr val="31A6A0"/>
                </a:solidFill>
              </a:rPr>
              <a:t>T1 axiale propre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2E472-35F2-414C-8870-B1523B5E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Image cible sans mouvement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CC33F-BA06-4DDB-B2C1-CFA58611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71775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1761D-7526-4852-86E2-413056DC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28850"/>
            <a:ext cx="2190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7B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39EE8-4D14-4220-B096-9E9749B6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17B1F"/>
                </a:solidFill>
              </a:defRPr>
            </a:pPr>
            <a:r>
              <a:rPr sz="1575" b="1">
                <a:solidFill>
                  <a:srgbClr val="D17B1F"/>
                </a:solidFill>
              </a:rPr>
              <a:t>Simulation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7C960-217A-4B00-AD23-CF5F8EFB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Mouvement ajouté pour créer l’entrée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C7956-976C-48E9-92C9-CAA2CD85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71775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30D2C-B58A-4D1C-9818-2D597279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2190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3258F-BBB2-4074-BFB3-398B70D3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U-Net 2D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1C91B-0DA6-47EB-BB06-6C0EBC4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Une coupe corrompue → une coupe corrigée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81539-1C92-4472-A71B-53931E90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1775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D53E7-D252-47B1-A38F-74F18D96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28850"/>
            <a:ext cx="20002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A6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6A4B3-F401-4670-AB64-18D59E44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431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A6A0"/>
                </a:solidFill>
              </a:defRPr>
            </a:pPr>
            <a:r>
              <a:rPr sz="1575" b="1">
                <a:solidFill>
                  <a:srgbClr val="31A6A0"/>
                </a:solidFill>
              </a:rPr>
              <a:t>Sortie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CFF39-8C06-4A01-979C-5871B964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241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Estimation de la coupe propre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5853F7-15CE-4C79-87F1-03508900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57650"/>
            <a:ext cx="8801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16BC4-76FA-4A50-A2C0-7DF87413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9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Étape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A9FEF-D25A-4C62-9F3D-74E4CA4A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L1 apprend la correspondance globale avec la cible.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75FCD-4C4B-4EED-B529-C23E70C2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48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17B1F"/>
                </a:solidFill>
              </a:defRPr>
            </a:pPr>
            <a:r>
              <a:rPr sz="1350" b="1">
                <a:solidFill>
                  <a:srgbClr val="D17B1F"/>
                </a:solidFill>
              </a:rPr>
              <a:t>Étape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50BB3-8CD1-4BFE-B0D6-2C7F69A2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00575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L1 + Total Variation affine le modèle et pénalise les variations locales irrégulières.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95CC02-937D-4DF8-9804-53ED2C2C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Zhang et al., Algorithms 2024 · arXiv:2210.14156 · github.com/MRIMoCo/DL_Motion_Correction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3ABA0-8B54-47EE-9789-DA4FCE1B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30852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FD395-0C22-4CE5-9BC6-EAB2AA91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MC-NET — ÉVALUATION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C4AB9-08E4-4BC8-826E-1D0E0918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MC-Net est exécutable, mais sa généralisation révèle la fragilité du domaine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6D9F9-54D5-4E6A-B90D-114A472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solidFill>
              <a:srgbClr val="2457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A125D-4308-414A-9189-46BCF686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C5"/>
                </a:solidFill>
              </a:defRPr>
            </a:pPr>
            <a:r>
              <a:rPr sz="1800" b="1">
                <a:solidFill>
                  <a:srgbClr val="2457C5"/>
                </a:solidFill>
              </a:rPr>
              <a:t>Ce qui est testé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66C48-0923-40CF-BF11-9C7D389F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C5"/>
                </a:solidFill>
              </a:defRPr>
            </a:pPr>
            <a:r>
              <a:rPr sz="1500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4F0AC-3A05-4B89-8BA2-BC19C9B8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T1 simulé, orientations axiale, coronale et sagittale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EDFD7-5D31-46B7-9F20-D6684BFC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C5"/>
                </a:solidFill>
              </a:defRPr>
            </a:pPr>
            <a:r>
              <a:rPr sz="1500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061F9-0C39-4B84-A185-67B40D5C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T1 avec mouvement réel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8FE5B-946D-4FFE-8B14-7238A808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C5"/>
                </a:solidFill>
              </a:defRPr>
            </a:pPr>
            <a:r>
              <a:rPr sz="1500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B2D29-6CDD-43FE-94AE-4D8DECEA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T2 jamais vu pendant l’entraînement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3FFDE-CD24-40F7-8D83-06010218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A6A0"/>
                </a:solidFill>
              </a:defRPr>
            </a:pPr>
            <a:r>
              <a:rPr sz="1800" b="1">
                <a:solidFill>
                  <a:srgbClr val="31A6A0"/>
                </a:solidFill>
              </a:rPr>
              <a:t>Ce qui est mesuré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6D29F-8011-4C10-B553-B22EB3D6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C5"/>
                </a:solidFill>
              </a:defRPr>
            </a:pPr>
            <a:r>
              <a:rPr sz="1500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08D73-3E98-4D48-9C22-29ACB6BF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PSNR et SSIM par rapport à une référence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1090D-25A7-40BA-B456-A4293491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37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C5"/>
                </a:solidFill>
              </a:defRPr>
            </a:pPr>
            <a:r>
              <a:rPr sz="1500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55FB5-E4E0-42F8-B74F-9DF33F00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Scores visuels de deux lecteurs cliniques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7E4B6-7446-4332-BA1C-50246B29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C5"/>
                </a:solidFill>
              </a:defRPr>
            </a:pPr>
            <a:r>
              <a:rPr sz="1500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50537-A446-4E0C-88D4-64648A6A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Temps d’inférence ≈ 40 ms par coupe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FF549-3FFF-44F3-B5E0-FDD59AFD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17B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1FA22-C51B-46BE-A13D-1E4A08A0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17B1F"/>
                </a:solidFill>
              </a:defRPr>
            </a:pPr>
            <a:r>
              <a:rPr sz="1350" b="1">
                <a:solidFill>
                  <a:srgbClr val="D17B1F"/>
                </a:solidFill>
              </a:rPr>
              <a:t>Résultat décisif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5C1F8-C507-403F-98BE-8696917C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815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Le modèle améliore le T1, mais fonctionne mal sur le T2 non vu. Il apprend donc aussi les caractéristiques du domaine d’entraînement.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3BFC8-2687-4E40-BF2E-D42C95C5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Code + modèle entraîné publiés. Limite pour notre étude : aucune validation FreeSurfer ou régionale.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03CEE-2A2E-4E27-B065-D207B3FF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5013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371068-FD6D-4B27-9E38-82AF833A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BME-X — SUN ET AL.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06240-7BF3-424F-AB60-EDAD9095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BME-X traite plusieurs dégradations dans une chaîne volumique générale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A7C69-46B7-42FB-901C-C89309ED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solidFill>
              <a:srgbClr val="2457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731C4-4567-4F4B-A036-D5722E9E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20002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3E8FB-4C5D-44C6-9A58-52E396BD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T1w ou T2w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9B8B4-2C6C-4D1F-BAD3-600F726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Volume structurel en organisation BIDS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52AFD-C552-40D1-91EE-8F2F1B1A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86050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385CB-1F17-44E0-BCEF-E8C3506B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43125"/>
            <a:ext cx="20002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A6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11C68-4EB7-47C2-8319-23E02DBC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574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A6A0"/>
                </a:solidFill>
              </a:defRPr>
            </a:pPr>
            <a:r>
              <a:rPr sz="1575" b="1">
                <a:solidFill>
                  <a:srgbClr val="31A6A0"/>
                </a:solidFill>
              </a:rPr>
              <a:t>Prétraitement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A1BEE-4F94-4E3A-9E0E-DF3E816D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384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Orientation, biais d’intensité, skull stripping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087C3-DB33-4800-87DD-7C3E602F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86050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689BA-2475-455F-99F9-635E279A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43125"/>
            <a:ext cx="20002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7B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4BCE8-FA9D-4486-903E-8273C6D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17B1F"/>
                </a:solidFill>
              </a:defRPr>
            </a:pPr>
            <a:r>
              <a:rPr sz="1575" b="1">
                <a:solidFill>
                  <a:srgbClr val="D17B1F"/>
                </a:solidFill>
              </a:rPr>
              <a:t>DU-Net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B28F0-C2CB-43A0-AA11-55627F8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38425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Backbone d’amélioration volumique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F8A81-CD75-4995-B447-8E44CB99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A913B-1B7F-4580-A7C7-202DEB55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43125"/>
            <a:ext cx="2857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47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57C1E-320C-4525-A796-74472297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57425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473E"/>
                </a:solidFill>
              </a:defRPr>
            </a:pPr>
            <a:r>
              <a:rPr sz="1575" b="1">
                <a:solidFill>
                  <a:srgbClr val="B9473E"/>
                </a:solidFill>
              </a:rPr>
              <a:t>Volume enhanced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927FF-BEF7-436E-A9F6-AB01B50E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38425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Mouvement, bruit, résolution et harmonisation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DAAD3-E6AE-4889-9D00-265ED00F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A"/>
                </a:solidFill>
              </a:defRPr>
            </a:pPr>
            <a:r>
              <a:rPr sz="2025" b="1">
                <a:solidFill>
                  <a:srgbClr val="17202A"/>
                </a:solidFill>
              </a:rPr>
              <a:t>Un même modèle apprend un espace anatomique commun à plusieurs types de dégradation.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370EB-AD3A-4771-91ED-83A3DA31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C5"/>
                </a:solidFill>
              </a:defRPr>
            </a:pPr>
            <a:r>
              <a:rPr sz="1500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2FFE4-6068-4A3A-8ABF-AE6FEE36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6725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Force : large diversité de données, de contrastes, d’âges et de scanners.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9EB75-8650-4628-AF2B-BAA7C130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768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C5"/>
                </a:solidFill>
              </a:defRPr>
            </a:pPr>
            <a:r>
              <a:rPr sz="1500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410AB-6541-44AF-978C-5D22B3C7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7685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Risque : plusieurs transformations sont entremêlées ; une sortie standardisée n’est pas nécessairement fidèle au scan individuel.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E892C6-9375-41C0-91EB-DDBF90EC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Sun et al., Nature Biomedical Engineering 2025 · doi:10.1038/s41551-024-01283-7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83CF6-3229-4B5F-971D-0DCB49F4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4328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9017B4-BB16-4400-BB2F-1E9E0A90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BME-X — ÉVALUATION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5266F-D606-4016-A8B6-0029346D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BME-X relie enfin amélioration d’image et conséquences anatomiques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D4D1D-02B0-452A-A19A-EB1DA145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solidFill>
              <a:srgbClr val="2457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D3DDF-8846-4784-A37B-2F62DBD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0CB08-731C-490F-9D01-61DB4E6D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C5"/>
                </a:solidFill>
              </a:defRPr>
            </a:pPr>
            <a:r>
              <a:rPr sz="1800" b="1">
                <a:solidFill>
                  <a:srgbClr val="2457C5"/>
                </a:solidFill>
              </a:rPr>
              <a:t>Apparence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640C4-3255-4EA0-85DF-FAD8AB69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Qualité visuelle et métriques de reconstruction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26008-AEDB-4F1B-BF77-BF5B5288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31A6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AA687-6CB5-476A-AF2D-BD0A8F2A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A6A0"/>
                </a:solidFill>
              </a:defRPr>
            </a:pPr>
            <a:r>
              <a:rPr sz="1800" b="1">
                <a:solidFill>
                  <a:srgbClr val="31A6A0"/>
                </a:solidFill>
              </a:rPr>
              <a:t>Anatomie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2EF6D-1683-47C7-BC7B-8C4E335C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WM, GM, CSF, ventricules, hippocampe et épaisseur corticale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F9E9A-DEF6-4196-B555-88E3642D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17B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6E964-31AE-42AB-BD0B-6AEEBD55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17B1F"/>
                </a:solidFill>
              </a:defRPr>
            </a:pPr>
            <a:r>
              <a:rPr sz="1800" b="1">
                <a:solidFill>
                  <a:srgbClr val="D17B1F"/>
                </a:solidFill>
              </a:rPr>
              <a:t>Mouvement réel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0AB14-CB7F-4DFF-BE6E-C1123756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</a:defRPr>
            </a:pPr>
            <a:r>
              <a:rPr sz="1575" b="1">
                <a:solidFill>
                  <a:srgbClr val="17202A"/>
                </a:solidFill>
              </a:rPr>
              <a:t>280 acquisitions corrompues de MR-ART comparées au scan 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DE2C0-3A6A-4BE3-B188-968D744F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86300"/>
            <a:ext cx="9601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31A6A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25E2D-0048-4E83-BD27-3AED61A1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A6A0"/>
                </a:solidFill>
              </a:defRPr>
            </a:pPr>
            <a:r>
              <a:rPr sz="1350" b="1">
                <a:solidFill>
                  <a:srgbClr val="31A6A0"/>
                </a:solidFill>
              </a:rPr>
              <a:t>Leçon pour JDAC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AB7E4-E4A1-4EE6-8E0C-EF1FA3B3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91075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Une méthode de correction devrait être jugée sur les mesures en aval, pas seulement sur la netteté ou le SSIM.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7D13A-D663-41F0-8AAE-6CDA7FF4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Documentation et conteneur officiel : brain-mri-enhancement.readthedocs.io · Docker GPU disponible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16207-F6AE-4DD0-818C-F6B5511E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9467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CDB95-D6C2-4C4A-9C5E-25068DCE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3D-WMOCO — YUAN ET AL.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AE0A1-FD80-4580-B85D-97D30293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3D-WMoCo combine cohérence volumique, ondelettes et priors 2D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033CF-6BE0-4F52-8B09-53EAA35E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solidFill>
              <a:srgbClr val="2457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21EB3-E8B2-428D-8376-00179BD4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2095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CCFC4-2C8E-46A7-8820-C06ECA79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Volume 3D corrompu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B8CE5-34EB-4031-8102-9339304B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Entrée image, sans k-space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32799-A4C4-44D7-BF04-033C84B9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24B82-D98A-40B6-AB8B-83EA9F02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095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7B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F9BB2-7E8B-4DC4-9563-CD601540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526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17B1F"/>
                </a:solidFill>
              </a:defRPr>
            </a:pPr>
            <a:r>
              <a:rPr sz="1575" b="1">
                <a:solidFill>
                  <a:srgbClr val="D17B1F"/>
                </a:solidFill>
              </a:rPr>
              <a:t>Ondelette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4A336-5888-4FF9-BC94-2F3AFC3E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3367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Séparation des échelles et diffusion accélérée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36BE7-F3A3-4E68-8C1A-ED9AA51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813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6E2BA-82D6-422C-8D94-8C8BA255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38375"/>
            <a:ext cx="20955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A6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45ACA-5A2F-45C5-950A-054D5C58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526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A6A0"/>
                </a:solidFill>
              </a:defRPr>
            </a:pPr>
            <a:r>
              <a:rPr sz="1575" b="1">
                <a:solidFill>
                  <a:srgbClr val="31A6A0"/>
                </a:solidFill>
              </a:rPr>
              <a:t>Deux priors 2D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B0D33-2A84-4316-80A1-4E4B9E9E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33675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Deux orientations guident la 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8DE1C-5311-4671-A07D-8E1AA72C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4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8E500-F619-4C43-8C85-88FF23A9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38375"/>
            <a:ext cx="2571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47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3DBC7-3F70-4C51-B10B-1B3B347A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5267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473E"/>
                </a:solidFill>
              </a:defRPr>
            </a:pPr>
            <a:r>
              <a:rPr sz="1575" b="1">
                <a:solidFill>
                  <a:srgbClr val="B9473E"/>
                </a:solidFill>
              </a:rPr>
              <a:t>Diffusion 3D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71CBB-70E0-4B8F-8D0B-13020A61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33675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Restauration par SDE à retour vers la moyenne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D824E-3B74-4B9E-BDBF-9E4A06AF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971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50B68-DA17-4E6B-8FB2-1E709B17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Idée utile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CAE81-9583-4953-B065-0FB94662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434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</a:defRPr>
            </a:pPr>
            <a:r>
              <a:rPr sz="1650" b="1">
                <a:solidFill>
                  <a:srgbClr val="17202A"/>
                </a:solidFill>
              </a:rPr>
              <a:t>Distinguer structure globale, frontières et artefacts par échelle peut mieux protéger l’anatomie qu’une correction uniforme.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EF0FE-47D8-4E5D-821A-3402E87A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95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473E"/>
                </a:solidFill>
              </a:defRPr>
            </a:pPr>
            <a:r>
              <a:rPr sz="1350" b="1">
                <a:solidFill>
                  <a:srgbClr val="B9473E"/>
                </a:solidFill>
              </a:rPr>
              <a:t>Prudence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E33D6-44B7-48D0-8135-20CE5EDB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196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Prépublication récente ; reproductibilité et poids prêts à l’emploi doivent être confirmés avant d’en faire un comparateur.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3CC899-6CAC-4CEA-AC40-EB959D65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Yuan et al., arXiv:2511.02256 · github.com/ZG-yuan/3D-WMoCo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AB1DA-7D69-4673-A632-BDB13CEF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3450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9A2FD-8C4F-447C-A142-E091CBEC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COMPARAISON DIRECTE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C7CC7-2650-4A50-B071-5C8723A7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Les trois méthodes ne répondent pas au même besoin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730A7-0017-47B2-9E63-2C87650E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solidFill>
              <a:srgbClr val="2457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B91C8-96CF-4F1E-ADA6-E19E842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09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F0DC3-94B4-475E-A31D-F030427F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Critère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09E6E-0D56-4E55-BA45-AD0600DD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19250"/>
            <a:ext cx="23431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457C5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D5ACB-7B79-4041-B7F8-5370A982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954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MC-Net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D5FA4-C6D6-4F90-B5D8-E3A7A5DB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2667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457C5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919F6-0478-40CF-B8F3-F32F9186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BME-X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349D1-15B1-4A67-9341-88B82735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6099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457C5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8EEDB-F40F-4488-ABFA-229FD76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9545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3D-WMoCo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93A31-1F84-4510-872A-07A6143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69F65-1B77-454E-B5ED-42B62A9F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Entrée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69660-F809-4749-A03C-D82F51EF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81225"/>
            <a:ext cx="2343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EA03D-3626-4D9A-9DE9-B85D4C1B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Coupe T1 2D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7438A-BDA6-4568-9563-8BD7A2AC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81225"/>
            <a:ext cx="266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4F97B-DE10-4390-88CE-71A6E5C5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383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Volume T1w/T2w BIDS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7F912-7F4D-4C8B-A5CD-9F809E78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81225"/>
            <a:ext cx="36099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E95A5-121E-41DB-9127-6E7C514C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38375"/>
            <a:ext cx="3419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Volume 3D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F589C-3BA0-410F-80F6-C143B77E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2417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38305-3867-4FFD-BB31-B15965B8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Apprentissage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354D0-F06B-4D49-AB72-6DE1B8A6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24175"/>
            <a:ext cx="2343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E4DF5-02D8-4EFF-AEB5-697FCA96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813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Supervisé, mouvement simulé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0A2A33-FA94-4E66-BE37-CB32E08B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24175"/>
            <a:ext cx="266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0DA69-BC46-42D3-97DD-5058E56E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813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Multi-dégradation, multi-dataset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227FB-9ACD-415A-A2EE-E92EDC14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24175"/>
            <a:ext cx="36099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6A758F-E222-4B51-8A4E-9D3A3416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81325"/>
            <a:ext cx="3419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Score priors + diffusion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14D40-138B-4294-8865-CF1FAED1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052DA8-D0EB-4F62-9481-3EF6702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Évaluation anatomique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5F425C-91E1-408E-AF25-19738D5D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67125"/>
            <a:ext cx="2343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F60DD-1917-4381-963E-E2DB7400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2427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Non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8EC6B4-6759-454F-BE2F-993C4EAE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67125"/>
            <a:ext cx="266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BC5429-F2A9-4E19-A15C-EF429345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242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Oui, mesures tissulaires et corticales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7DF091-7C73-4C2B-AE9D-B05CAB6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67125"/>
            <a:ext cx="36099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264BA-F94D-4DAC-9D4B-E0B2C663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24275"/>
            <a:ext cx="3419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Pas centrale dans la preuve publiée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479336-63C3-4309-8D08-947322E4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007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AA553D-8EB9-46A2-B107-C69E4F4C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672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Code / exécution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9F05DF-BF0D-443D-B258-4F894D87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10075"/>
            <a:ext cx="2343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A45D21-53F8-4491-807A-F9642BC7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672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Code + poids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6A8B8B-CFBD-4A43-939D-4E37CD24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10075"/>
            <a:ext cx="266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660921-2EB5-470E-922B-8088FC15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672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Conteneur + poids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E9BF03-D241-422E-A621-EA7A3BF2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10075"/>
            <a:ext cx="36099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EEF5A8-4240-4B5D-A0A4-A6B9B0FF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67225"/>
            <a:ext cx="3419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Code ; maturité à confirmer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BD9CB5-032D-425D-A3C5-95E83B66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CBD1DD-FB52-426A-9D69-817C8184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</a:defRPr>
            </a:pPr>
            <a:r>
              <a:rPr sz="1200" b="1">
                <a:solidFill>
                  <a:srgbClr val="17202A"/>
                </a:solidFill>
              </a:rPr>
              <a:t>Rôle pour JDAC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E2DC17-8A97-4714-9988-CC8B169E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53025"/>
            <a:ext cx="2343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CF2FD6-5410-4114-9CE7-35A5C200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1017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Comparateur immédiat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56106D-6440-427E-97C6-DDD28A82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53025"/>
            <a:ext cx="266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4A740C-16B6-43D3-9DCD-9942AC8B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01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Benchmark large et modèle d’évaluation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E95966-D160-4AB1-8DF4-850B5AB5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53025"/>
            <a:ext cx="36099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9B4C58-E687-4170-8834-01312D15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10175"/>
            <a:ext cx="3419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Inspiration méthodologique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BF0F6D-A001-4106-89D0-D294DC86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Comparaison fondée sur les articles et dépôts officiels ; disponibilité vérifiée au 17 juillet 2026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80BDE3-0655-4B32-BD0D-035C820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7641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2782BF-FD59-4ECB-8E61-B1AC483A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CE QUE LES ARTICLES NOUS APPRENNENT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0BDE8-4A75-414B-9E8A-10F96925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Une correction crédible doit franchir quatre niveaux d’évaluation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1712B-FE80-4A2F-82DC-BE4F32A7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solidFill>
              <a:srgbClr val="2457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194AE-D2C9-406A-98D8-F565845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904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28C85-1951-4D27-AF9A-8EB95853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1. Apparence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EE5D9-D14C-406F-8E03-E8087A4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PSNR, SSIM, netteté et lecture visuelle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5D706-0CFE-4E88-BB6C-2316E53D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79438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A6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54B22-9004-4FEA-BCEC-88226F69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57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A6A0"/>
                </a:solidFill>
              </a:defRPr>
            </a:pPr>
            <a:r>
              <a:rPr sz="1575" b="1">
                <a:solidFill>
                  <a:srgbClr val="31A6A0"/>
                </a:solidFill>
              </a:rPr>
              <a:t>2. Frontières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D12EA-AC78-4D54-9868-3B39F05C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38450"/>
            <a:ext cx="470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Gradients, contraste GM/WM et surfaces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7C918-7BA0-4209-A03D-AE41358A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71900"/>
            <a:ext cx="6838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7B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E8F77-F294-4A6F-A913-567CBC34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86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17B1F"/>
                </a:solidFill>
              </a:defRPr>
            </a:pPr>
            <a:r>
              <a:rPr sz="1575" b="1">
                <a:solidFill>
                  <a:srgbClr val="D17B1F"/>
                </a:solidFill>
              </a:rPr>
              <a:t>3. Morphométrie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1F297-F79A-4D59-B87C-BC21DE90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6715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Biais régional, MAE, CCC/ICC et Bland–Altman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FB4CD-B8A0-402F-A855-2CF37921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00600"/>
            <a:ext cx="57340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47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AE046-DED4-4943-914B-176A3227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14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473E"/>
                </a:solidFill>
              </a:defRPr>
            </a:pPr>
            <a:r>
              <a:rPr sz="1575" b="1">
                <a:solidFill>
                  <a:srgbClr val="B9473E"/>
                </a:solidFill>
              </a:rPr>
              <a:t>4. Robustesse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26BD3-4CAA-40CB-B225-00D22874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9585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Mouvement réel et relation mouvement–épaisseur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286A1-79EB-4893-8C98-FE3B7131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293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JDAC doit réussir les quatre niveaux — pas seulement le premier.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6E28A-4740-43E9-9735-2DCF51EA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Duffy et al. reste une référence d’évaluation des surfaces, sans être l’un des trois outils présentés.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ADF61-33E1-40AF-B8AF-C9A60AE5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54771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94C888-E940-4B6F-AFAB-2FA8D974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C5"/>
                </a:solidFill>
              </a:defRPr>
            </a:pPr>
            <a:r>
              <a:rPr sz="1050" b="1">
                <a:solidFill>
                  <a:srgbClr val="2457C5"/>
                </a:solidFill>
              </a:rPr>
              <a:t>IMPLICATIONS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2227A-A094-4BDE-8B2B-4593FA2B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A"/>
                </a:solidFill>
              </a:defRPr>
            </a:pPr>
            <a:r>
              <a:rPr sz="2700" b="1">
                <a:solidFill>
                  <a:srgbClr val="17202A"/>
                </a:solidFill>
              </a:rPr>
              <a:t>Pour JDAC, l’amélioration la plus défendable est une contrainte anatomique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6D3F0-9DB0-478C-AD67-717FA6D8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solidFill>
              <a:srgbClr val="2457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C0194-62EB-4622-9A56-7CF5CBE0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57C5"/>
                </a:solidFill>
              </a:defRPr>
            </a:pPr>
            <a:r>
              <a:rPr sz="1875" b="1">
                <a:solidFill>
                  <a:srgbClr val="2457C5"/>
                </a:solidFill>
              </a:rPr>
              <a:t>À tester maintenant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BE0F4-B94C-43E9-A843-E3153564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4F47F-2F04-4C0B-989B-C3C8A178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Réduire la force résiduelle et vérifier le scan immobile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41F71-18A7-4765-AB2F-FFF4C8C8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AA95E-C2A1-46CF-91A6-62857C4B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Comparer au moins un modèle externe exécutable : MC-Net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9F209-7CE4-4387-B6BB-4ED58E30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BA6BF-E949-4D48-A822-5B0D0870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Conserver les mesures FreeSurfer comme critère principal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F112A-EEDE-4F67-995F-D190F269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7B1F"/>
                </a:solidFill>
              </a:defRPr>
            </a:pPr>
            <a:r>
              <a:rPr sz="1875" b="1">
                <a:solidFill>
                  <a:srgbClr val="D17B1F"/>
                </a:solidFill>
              </a:rPr>
              <a:t>Si un réentraînement devient nécessaire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43135-521C-43C1-9D04-60106D5E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4B39E-9DC9-4ED2-B937-143F82A9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Ajouter une perte d’identité sur les scans propres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1BA7E-A7CD-4C4C-87B3-B0FF4D06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A4B3D-F6BC-4994-A15B-E4B99E85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Ajouter une perte de frontières GM/WM ou multirésolution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3F6AE-9E5A-43EE-955F-17233429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7C5"/>
                </a:solidFill>
              </a:defRPr>
            </a:pPr>
            <a:r>
              <a:rPr sz="1575" b="1">
                <a:solidFill>
                  <a:srgbClr val="2457C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12C20-706B-4F80-8696-B007FE6A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Équilibrer les exemples selon la sévérité du mouvement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FF4E9-B307-4428-82DC-C7F767DD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6E421-2D42-4FBA-94AC-99F89378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95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E7E1"/>
                </a:solidFill>
              </a:defRPr>
            </a:pPr>
            <a:r>
              <a:rPr sz="1350" b="1">
                <a:solidFill>
                  <a:srgbClr val="9FE7E1"/>
                </a:solidFill>
              </a:rPr>
              <a:t>Critère de réussite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8C2CF-9EEE-4C6B-AFEA-608197F2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101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Réduire l’effet du mouvement sans déplacer raw/run-01 ni augmenter l’erreur régionale.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0E270-5126-4FE1-8C49-8C182003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Recommandation dérivée de la comparaison, à valider avant toute nouvelle expérience lourde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C2EE9-F6A7-4C7D-8E5A-880150D6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21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E4D61-30E0-4957-93E2-A91C612D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E7E1"/>
                </a:solidFill>
              </a:defRPr>
            </a:pPr>
            <a:r>
              <a:rPr sz="1125" b="1">
                <a:solidFill>
                  <a:srgbClr val="9FE7E1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084F2-19F6-4E54-8AD8-958B85D7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857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La netteté est une observation.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La fidélité anatomique est le critère.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FC9B5-7272-4B32-8EF3-052BDC27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7A8FF"/>
                </a:solidFill>
              </a:defRPr>
            </a:pPr>
            <a:r>
              <a:rPr sz="1650" b="1">
                <a:solidFill>
                  <a:srgbClr val="77A8FF"/>
                </a:solidFill>
              </a:rPr>
              <a:t>MC-Net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5FC7B-25EF-448C-97C7-D6EF5A96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comparateur exécutable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B6510-9E25-4D65-B4F4-BF179FFF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D6CF"/>
                </a:solidFill>
              </a:defRPr>
            </a:pPr>
            <a:r>
              <a:rPr sz="1650" b="1">
                <a:solidFill>
                  <a:srgbClr val="72D6CF"/>
                </a:solidFill>
              </a:rPr>
              <a:t>BME-X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7501B-98F6-45B9-9A5E-DBB204F5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14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référence pour l’évaluation en aval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AE2D5-5FFF-40AD-9E9B-63FDC05F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B66A"/>
                </a:solidFill>
              </a:defRPr>
            </a:pPr>
            <a:r>
              <a:rPr sz="1650" b="1">
                <a:solidFill>
                  <a:srgbClr val="F5B66A"/>
                </a:solidFill>
              </a:rPr>
              <a:t>3D-WMoCo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13778-8A46-4A47-A617-13CC3FDB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006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inspiration multirésolution et 3D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2269B-7BA5-4603-BEB6-061F2B33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E4EF"/>
                </a:solidFill>
              </a:defRPr>
            </a:pPr>
            <a:r>
              <a:rPr sz="1800" b="1">
                <a:solidFill>
                  <a:srgbClr val="D9E4EF"/>
                </a:solidFill>
              </a:rPr>
              <a:t>Décision proposée : tester d’abord une correction JDAC moins forte, puis choisir entre calibration, comparaison externe et réentraînement contraint.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D1621-0BFE-4B15-8837-E4D3C72F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06D"/>
                </a:solidFill>
              </a:defRPr>
            </a:pPr>
            <a:r>
              <a:rPr sz="750" b="0">
                <a:solidFill>
                  <a:srgbClr val="52606D"/>
                </a:solidFill>
              </a:rPr>
              <a:t>Synthèse technique — JDAC motion correction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0464D-BA74-4519-9311-CB81C119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979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2026-07-17T13:05:54.9390000Z</dcterms:created>
  <dcterms:modified xsi:type="dcterms:W3CDTF">2026-07-17T13:05:54.9400000Z</dcterms:modified>
</coreProperties>
</file>